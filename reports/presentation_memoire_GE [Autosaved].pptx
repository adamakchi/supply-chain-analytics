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 snapToObjects="1">
      <p:cViewPr varScale="1">
        <p:scale>
          <a:sx n="43" d="100"/>
          <a:sy n="43" d="100"/>
        </p:scale>
        <p:origin x="123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2011680" cy="4572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20116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PROJET MÉMOIRE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Système de Prévision et d'Optimisation des Stocks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>
                <a:solidFill>
                  <a:srgbClr val="E8EFF7"/>
                </a:solidFill>
                <a:latin typeface="Calibri"/>
              </a:rPr>
              <a:t>Une approche Demand-Driven s'appuyant sur l'Intelligence Artificielle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Cas d'étude : GE — Chaîne d'approvisionnement industrielle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E8EFF7"/>
                </a:solidFill>
                <a:latin typeface="Calibri"/>
              </a:rPr>
              <a:t>Données 2021–2025  ·  349 390 commandes  ·  Pipeline IA complet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Adam Marrakchi  ·  Master Génie Industriel  ·  Mai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594360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300" b="1">
                <a:solidFill>
                  <a:srgbClr val="E87A1E"/>
                </a:solidFill>
                <a:latin typeface="Calibri"/>
              </a:rPr>
              <a:t>Soutenance — 28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Plan détaillé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1. Contexte &amp; Problématique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Enjeux supply chain GE · objectifs mémoire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2. Phase 1 — Data Engineering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Extraction, fusion, nettoyage (349K commandes)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3. Phase 2 — Études Statistiques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Saisonnalité, cyclicité, corrélations exogènes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4. Phase 2bis — EDA pré-modélisation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Analyse fine, sélection features, splits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5. Phase 3 — Modélisation IA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Baseline · XGBoost · LightGBM · Optuna · LSTM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6. Phase 4 — Dashboard décisionnel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Streamlit human-in-the-loop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7. Résultats &amp; Performance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MAE 11.87 vs baseline 13.04 — objectif validé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8. Apports, Limites &amp; Perspectives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Conclusion académique et business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Contexte : la chaîne d'approvisionnement 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Pression économique · multi-sites · forte variabilité de la demande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685800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7A1E"/>
                </a:solidFill>
                <a:latin typeface="Calibri"/>
              </a:rPr>
              <a:t>▸ </a:t>
            </a:r>
            <a:r>
              <a:rPr sz="1600">
                <a:solidFill>
                  <a:srgbClr val="222222"/>
                </a:solidFill>
                <a:latin typeface="Calibri"/>
              </a:rPr>
              <a:t>GE — leader industriel mondial</a:t>
            </a:r>
            <a:r>
              <a:t>  </a:t>
            </a:r>
            <a:r>
              <a:rPr sz="1400" i="1">
                <a:solidFill>
                  <a:srgbClr val="6B7380"/>
                </a:solidFill>
                <a:latin typeface="Calibri"/>
              </a:rPr>
              <a:t>Énergie, aéronautique, santé, transport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7A1E"/>
                </a:solidFill>
                <a:latin typeface="Calibri"/>
              </a:rPr>
              <a:t>▸ </a:t>
            </a:r>
            <a:r>
              <a:rPr sz="1600">
                <a:solidFill>
                  <a:srgbClr val="222222"/>
                </a:solidFill>
                <a:latin typeface="Calibri"/>
              </a:rPr>
              <a:t>Chaîne logistique complexe</a:t>
            </a:r>
            <a:r>
              <a:t>  </a:t>
            </a:r>
            <a:r>
              <a:rPr sz="1400" i="1">
                <a:solidFill>
                  <a:srgbClr val="6B7380"/>
                </a:solidFill>
                <a:latin typeface="Calibri"/>
              </a:rPr>
              <a:t>Réseau client international, multi-devises, multi-pays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7A1E"/>
                </a:solidFill>
                <a:latin typeface="Calibri"/>
              </a:rPr>
              <a:t>▸ </a:t>
            </a:r>
            <a:r>
              <a:rPr sz="1600">
                <a:solidFill>
                  <a:srgbClr val="222222"/>
                </a:solidFill>
                <a:latin typeface="Calibri"/>
              </a:rPr>
              <a:t>Pression croissante sur les stocks</a:t>
            </a:r>
            <a:r>
              <a:t>  </a:t>
            </a:r>
            <a:r>
              <a:rPr sz="1400" i="1">
                <a:solidFill>
                  <a:srgbClr val="6B7380"/>
                </a:solidFill>
                <a:latin typeface="Calibri"/>
              </a:rPr>
              <a:t>Réduction du BFR, taux de service ≥ 95 %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7A1E"/>
                </a:solidFill>
                <a:latin typeface="Calibri"/>
              </a:rPr>
              <a:t>▸ </a:t>
            </a:r>
            <a:r>
              <a:rPr sz="1600">
                <a:solidFill>
                  <a:srgbClr val="222222"/>
                </a:solidFill>
                <a:latin typeface="Calibri"/>
              </a:rPr>
              <a:t>Variabilité de la demande forte</a:t>
            </a:r>
            <a:r>
              <a:t>  </a:t>
            </a:r>
            <a:r>
              <a:rPr sz="1400" i="1">
                <a:solidFill>
                  <a:srgbClr val="6B7380"/>
                </a:solidFill>
                <a:latin typeface="Calibri"/>
              </a:rPr>
              <a:t>Saisonnalité industrielle, cycles budgétaires, aléas exogènes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7A1E"/>
                </a:solidFill>
                <a:latin typeface="Calibri"/>
              </a:rPr>
              <a:t>▸ </a:t>
            </a:r>
            <a:r>
              <a:rPr sz="1600">
                <a:solidFill>
                  <a:srgbClr val="222222"/>
                </a:solidFill>
                <a:latin typeface="Calibri"/>
              </a:rPr>
              <a:t>Approche traditionnelle limitée</a:t>
            </a:r>
            <a:r>
              <a:t>  </a:t>
            </a:r>
            <a:r>
              <a:rPr sz="1400" i="1">
                <a:solidFill>
                  <a:srgbClr val="6B7380"/>
                </a:solidFill>
                <a:latin typeface="Calibri"/>
              </a:rPr>
              <a:t>Prévision sur moyennes mobiles → réactivité insuffisante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7A1E"/>
                </a:solidFill>
                <a:latin typeface="Calibri"/>
              </a:rPr>
              <a:t>▸ </a:t>
            </a:r>
            <a:r>
              <a:rPr sz="1600">
                <a:solidFill>
                  <a:srgbClr val="222222"/>
                </a:solidFill>
                <a:latin typeface="Calibri"/>
              </a:rPr>
              <a:t>Opportunité IA</a:t>
            </a:r>
            <a:r>
              <a:t>  </a:t>
            </a:r>
            <a:r>
              <a:rPr sz="1400" i="1">
                <a:solidFill>
                  <a:srgbClr val="6B7380"/>
                </a:solidFill>
                <a:latin typeface="Calibri"/>
              </a:rPr>
              <a:t>Captation de signaux faibles (météo, fériés, IPI) au-delà des séries temporelles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280160"/>
            <a:ext cx="3931920" cy="5029200"/>
          </a:xfrm>
          <a:prstGeom prst="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141732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Périmètre étudié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920240"/>
            <a:ext cx="17373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79" y="2057400"/>
            <a:ext cx="17373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349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834640"/>
            <a:ext cx="1737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commandes 2021-2025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920240"/>
            <a:ext cx="17373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0" y="2057400"/>
            <a:ext cx="17373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5 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834640"/>
            <a:ext cx="1737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horizon historique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383280"/>
            <a:ext cx="17373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3520440"/>
            <a:ext cx="17373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89 %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297680"/>
            <a:ext cx="1737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France · multi-pays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3383280"/>
            <a:ext cx="17373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0" y="3520440"/>
            <a:ext cx="17373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4297680"/>
            <a:ext cx="1737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familles produits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937760"/>
            <a:ext cx="36576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Sources : extractions ERP commandes &amp; livraisons clients (2021→2025), enrichies par jours fériés (FR), météo (Open-Meteo Paris) et conjoncture INSEE (IPI).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Problématique de recherche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Question centrale du mémoire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4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201168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332720" cy="1645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Comment une approche Demand-Driven s'appuyant sur l'IA peut-elle prédire conjointement la QUANTITÉ et la DATE de la demande client réelle, afin d'optimiser la chaîne d'approvisionnement de GE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0698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Sous-questions de recherche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10698480" cy="2560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dirty="0">
                <a:solidFill>
                  <a:srgbClr val="E87A1E"/>
                </a:solidFill>
                <a:latin typeface="Calibri"/>
              </a:rPr>
              <a:t>▸ </a:t>
            </a:r>
            <a:r>
              <a:rPr sz="1400" dirty="0">
                <a:solidFill>
                  <a:srgbClr val="222222"/>
                </a:solidFill>
                <a:latin typeface="Calibri"/>
              </a:rPr>
              <a:t>Q1 — Quels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facteurs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exogènes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calendaires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météo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macro)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impactent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significativement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la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demande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?</a:t>
            </a:r>
          </a:p>
          <a:p>
            <a:pPr algn="l">
              <a:lnSpc>
                <a:spcPct val="130000"/>
              </a:lnSpc>
            </a:pPr>
            <a:r>
              <a:rPr sz="1400" b="1" dirty="0">
                <a:solidFill>
                  <a:srgbClr val="E87A1E"/>
                </a:solidFill>
                <a:latin typeface="Calibri"/>
              </a:rPr>
              <a:t>▸ </a:t>
            </a:r>
            <a:r>
              <a:rPr sz="1400" dirty="0">
                <a:solidFill>
                  <a:srgbClr val="222222"/>
                </a:solidFill>
                <a:latin typeface="Calibri"/>
              </a:rPr>
              <a:t>Q2 — Une architecture IA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peut-elle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battre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une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baseline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statistique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métier sur un horizon 12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mois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?</a:t>
            </a:r>
          </a:p>
          <a:p>
            <a:pPr algn="l">
              <a:lnSpc>
                <a:spcPct val="130000"/>
              </a:lnSpc>
            </a:pPr>
            <a:r>
              <a:rPr sz="1400" b="1" dirty="0">
                <a:solidFill>
                  <a:srgbClr val="E87A1E"/>
                </a:solidFill>
                <a:latin typeface="Calibri"/>
              </a:rPr>
              <a:t>▸ </a:t>
            </a:r>
            <a:r>
              <a:rPr sz="1400" dirty="0">
                <a:solidFill>
                  <a:srgbClr val="222222"/>
                </a:solidFill>
                <a:latin typeface="Calibri"/>
              </a:rPr>
              <a:t>Q3 — Comment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articuler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prévision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quantitative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qté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 et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temporelle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(date inter-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commande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 ?</a:t>
            </a:r>
          </a:p>
          <a:p>
            <a:pPr algn="l">
              <a:lnSpc>
                <a:spcPct val="130000"/>
              </a:lnSpc>
            </a:pPr>
            <a:r>
              <a:rPr sz="1400" b="1" dirty="0">
                <a:solidFill>
                  <a:srgbClr val="E87A1E"/>
                </a:solidFill>
                <a:latin typeface="Calibri"/>
              </a:rPr>
              <a:t>▸ </a:t>
            </a:r>
            <a:r>
              <a:rPr sz="1400" dirty="0">
                <a:solidFill>
                  <a:srgbClr val="222222"/>
                </a:solidFill>
                <a:latin typeface="Calibri"/>
              </a:rPr>
              <a:t>Q4 — Comment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intégrer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la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prévision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IA dans un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outil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décisionnel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utilisable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au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quotidien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Objectifs et indicateur North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Cibles quantitatives et livrables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5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Objectifs scientifiques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943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Identifier les signaux exogènes prédictifs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Tests statistiques : Pearson, Granger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Comparer plusieurs architectures IA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Boosting (XGB/LGBM) vs Deep Learning (LSTM)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Battre la baseline métier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Moyenne historique client × article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Garantir la robustesse temporelle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Split strict 2021-2023 / 2024 / 2025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Industrialiser via une interface décisionnelle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Dashboard Streamlit human-in-the-loop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188720"/>
            <a:ext cx="5029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Indicateur North Star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737360"/>
            <a:ext cx="4846320" cy="219456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1828800"/>
            <a:ext cx="48463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Précision globale &gt; 60 %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468880"/>
            <a:ext cx="4846320" cy="1554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Mesurée par 1 − WAPE sur le test 2025
Objectif : prévision quantitative meilleure que la baseline moyenne historique sur l'horizon annuel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114800"/>
            <a:ext cx="5029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Livrables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572000"/>
            <a:ext cx="5029200" cy="2011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4 notebooks Jupyter documentés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5 modèles IA sauvegardés (.pkl / .pt)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1 dashboard Streamlit multi-pages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Rapports phase 1, 2 + JSON modélisation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Méthodologie : pipeline en 4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Démarche structurée du brut au déploiement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6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194560" cy="256032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2194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219456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Data
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219456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349K lignes
24 colonnes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88920" y="2926080"/>
            <a:ext cx="182880" cy="365760"/>
          </a:xfrm>
          <a:prstGeom prst="rightArrow">
            <a:avLst/>
          </a:prstGeom>
          <a:solidFill>
            <a:srgbClr val="6B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017520" y="1828800"/>
            <a:ext cx="2194560" cy="256032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17520" y="1965960"/>
            <a:ext cx="2194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377440"/>
            <a:ext cx="219456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Études
statistiques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383280"/>
            <a:ext cx="219456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Saisonnalité
Granger / Pearson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57800" y="2926080"/>
            <a:ext cx="182880" cy="365760"/>
          </a:xfrm>
          <a:prstGeom prst="rightArrow">
            <a:avLst/>
          </a:prstGeom>
          <a:solidFill>
            <a:srgbClr val="6B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86400" y="1828800"/>
            <a:ext cx="2194560" cy="256032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0" y="1965960"/>
            <a:ext cx="2194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Phase 2bis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377440"/>
            <a:ext cx="219456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EDA pré-
modélisation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383280"/>
            <a:ext cx="219456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28 features
Splits temporels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726680" y="2926080"/>
            <a:ext cx="182880" cy="365760"/>
          </a:xfrm>
          <a:prstGeom prst="rightArrow">
            <a:avLst/>
          </a:prstGeom>
          <a:solidFill>
            <a:srgbClr val="6B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955280" y="1828800"/>
            <a:ext cx="2194560" cy="256032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0" y="1965960"/>
            <a:ext cx="2194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2377440"/>
            <a:ext cx="219456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Modélisation
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3383280"/>
            <a:ext cx="219456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XGB / LGBM
Optuna / LSTM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0195560" y="2926080"/>
            <a:ext cx="182880" cy="365760"/>
          </a:xfrm>
          <a:prstGeom prst="rightArrow">
            <a:avLst/>
          </a:prstGeom>
          <a:solidFill>
            <a:srgbClr val="6B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24160" y="1828800"/>
            <a:ext cx="2194560" cy="256032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24160" y="1965960"/>
            <a:ext cx="2194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2377440"/>
            <a:ext cx="219456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Dashboard
décisionnel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3383280"/>
            <a:ext cx="219456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Streamlit
HITL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Approche itérative et reproductible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10972800" cy="1280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Versionning Git de chaque phase + rapports markdown détaillés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Données intermédiaires en Parquet (compression + typage strict)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Reproductibilité : seed fixée (RANDOM_STATE=42), splits temporels stricts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1 — Sources de données et stratégie d'extraction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Deux extractions ERP croisées sur la période 2021–2025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7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Volume brut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Granularité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Variables clés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Extraction commande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~ 380 000 lignes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Ligne de commande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client, article, qté demandée, prix, devise, date cmd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Extraction livraison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~ 410 000 lignes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Ligne de livraison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date livraison demandée/réelle, quantité livrée, statut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Jointure commande↔livraison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349 390 lignes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Ligne de commande consolidée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Match par n°cmd + n°ligne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Stratégie de consolidation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0972800" cy="2743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Fusion en clé composite (numéro commande, numéro ligne)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Préserve la granularité commande × article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Suppression des lignes incohérentes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Quantités négatives, dates invalides, statuts annulés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Typage strict des dates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date_cmd, date_liv_demandee, date_liv_reelle au format datetime64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Création de la variable cible qte_demandee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Quantité commandée (avant éventuelles modifications)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Validation finale : 349 390 lignes × 24 colonnes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Aucune valeur manquante dans la cible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1 — Pipeline de nettoyage et de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Notebook 01_data_cleaning.ipynb — sortie : dataset_ml_final.parquet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8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1. Chargement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3657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Lecture XLSX + CSV (encodage Latin-1, séparateur ;)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8016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137160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2. Standardisation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828800"/>
            <a:ext cx="3657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Renommage snake_case, ASCII, harmonisation devises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137160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3. Jointure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657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Inner join commande × livraison, vérif. ratio match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2608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4. Dédoublonnage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3657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Suppression doublons exacts + lignes vides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92608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0" y="301752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5. Nettoyage cible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474720"/>
            <a:ext cx="3657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qte_demandee : suppression valeurs négatives / nulles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92608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301752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6. Features 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474720"/>
            <a:ext cx="3657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année, mois, semaine, jour_semaine, est_weekend, est_fin_mois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57200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66344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7. Features métiers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120640"/>
            <a:ext cx="3657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delai_demande_jours = liv_demandee − cmd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457200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97680" y="466344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8. Encodages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120640"/>
            <a:ext cx="3657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Frequency encoding (client, article) — Target encoding catégorielles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57200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0" y="466344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9. Validation finale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5120640"/>
            <a:ext cx="3657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Profilage pandas + sanity checks → 349 390 ×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1 — Caractéristiques du dataset produit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data/processed/dataset_ml_final.parquet · 349 390 ×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9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256032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349 390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25603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lignes (commandes)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1508760"/>
            <a:ext cx="256032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286000"/>
            <a:ext cx="25603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colonnes initiales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37160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1508760"/>
            <a:ext cx="256032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286000"/>
            <a:ext cx="25603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valeur manquante sur cible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37160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0" y="1508760"/>
            <a:ext cx="256032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5 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286000"/>
            <a:ext cx="25603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horizon 2021–2025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Catégories de variables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35204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Catégorie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Variables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Exemples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Identifiants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code_client, code_article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Cible &amp; quantitatives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qte_demandee, qte_livree, prix, delai_demande_jours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Temporelles dérivées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annee, mois, trimestre, semaine, jour_semaine, est_weekend, est_fin_mois, date_cmd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Catégorielles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statut, devise, pays, segment, famille_activite_client/article, type_activite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Encodées (freq/enc)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code_client_freq, code_article_freq, statut_enc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2 — Études statistiques approfondies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Notebook 02_statistical_study.ipynb · enrichissement à 38 colonnes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10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Deux études complémentaires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486400" cy="41148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1F3A68"/>
                </a:solidFill>
                <a:latin typeface="Calibri"/>
              </a:rPr>
              <a:t>Étude A — Saisonnalité &amp; cyclicité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5212080" cy="33832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Décomposition STL (Loess) — période 12 mois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Tendance vs Saisonnalité vs Résidus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Décomposition par famille d'article (3 familles)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Cycles budgétaires (fin de trimestre)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Cycles météo (4 saisons)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Stationnarité (ACF / PACF)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486400" cy="41148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1F3A68"/>
                </a:solidFill>
                <a:latin typeface="Calibri"/>
              </a:rPr>
              <a:t>Étude B — Corrélations exogènes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5212080" cy="33832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Construction de 12 variables exogènes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Jours fériés FR (lib. holidays)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Météo Paris (API Open-Meteo, proxy France)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IPI INSEE (production industrielle)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Matrice de corrélation Pearson (seuil 0,15)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Test de causalité de Granger (lag 1–3 mois)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E87A1E"/>
                </a:solidFill>
                <a:latin typeface="Calibri"/>
              </a:rPr>
              <a:t>Livrable : dataset_ml_enrichi.parquet (349 390 × 38) — 100 % couverture sur les nouvelles variables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Décomposition STL — Série globale (64 mois)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Tendance haussière, saisonnalité forte (amplitude ≈ 90 000 unités)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11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decomposition_glob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909" y="1234440"/>
            <a:ext cx="6446181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9680" y="123444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Lecture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691640"/>
            <a:ext cx="32004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Tendance +13 130 unités sur 5 ans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Saisonnalité = 72 % de la moyenne mensuelle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Pic en mars (clôtures budgétaires Q1)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Creux en août (fermetures estivales)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Résidus = chocs ponctuels non structurés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Décomposition par famille d'article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Famille 0 = 96 % du volume — structure saisonnière concentrée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12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decomposition_par_fami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07294"/>
            <a:ext cx="8046720" cy="4883492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778240" y="1280160"/>
          <a:ext cx="3200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Famille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7,12 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96,3 %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562 K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7,6 %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281 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3,8 %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78240" y="4206240"/>
            <a:ext cx="3291840" cy="2286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La famille 0 dicte la structure globale. Les familles 1 &amp; 2, plus rares, présentent un bruit relatif plus important — à modéliser séparément en perspective.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Cycles budgétaires clients (fin de trimestre)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Surdemande typique mars / juin / septembre / décembre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13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cycles_budgeta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97678"/>
            <a:ext cx="8046720" cy="33027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9680" y="123444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Implication modélisation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691640"/>
            <a:ext cx="32004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Inclure trimestre_cmd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Inclure est_fin_mois_cmd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Capture du comportement d'achat industriel pré-clôture comptable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Cycles météo saisonniers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Creux estival marqué — effet des arrêts industriels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14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cycles_met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9724"/>
            <a:ext cx="8046720" cy="39586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9680" y="1371600"/>
            <a:ext cx="32004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Été = creux historique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Hiver / Printemps = pics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Cohérent avec pic mars + creux août STL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Légitime l'inclusion de temp_min, pluie, vent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Construction des 12 variables exogènes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Sources extérieures jointurées au dataset enrichi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15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Famille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Source / méthode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Couverture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Jours fériés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est_jour_ferie_cmd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lib. holidays (FR)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28,4 % lignes = 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Jours fériés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est_jour_ferie_liv_dem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lib. holidays (FR)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28,6 % lignes = 1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Jours fériés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nb_jours_feries_dans_delai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pandas date_range freq='B'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moy. 0,34 — max 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Jours fériés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nb_weekends_dans_delai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pandas weekday ≥ 5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moy. 2,12 — max 114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Météo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pluie_mm_liv_dem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Open-Meteo Archive (Paris, mensuel)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Météo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vent_max_kmh_liv_dem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Open-Meteo Archive (Paris, mensuel)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Météo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temp_min_liv_dem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Open-Meteo Archive (Paris, mensuel)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Macro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ipi_valeur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INSEE — Production industrielle (proxy)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Macro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taux_change_devise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Taux annuel moyen EUR/USD/CNY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Contexte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est_vacances_scolaires_liv_dem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Calendrier officiel (toutes zones)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30,9 % = 1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Contexte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est_periode_peak_liv_dem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Sept / Nov / Déc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22,0 % = 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68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Contexte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est_periode_covid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2021 T1-T2 + 2022 T1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18,1 % = 1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Corrélations de Pearson — variables exogènes vs demande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Seuil de significativité |r| &gt; 0,15 — 5 variables retenues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16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matrice_correlation_pea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19774"/>
            <a:ext cx="6400800" cy="2549972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49440" y="128016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Sig.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nb_weekends_dans_delai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+0,545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nb_jours_feries_dans_delai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+0,497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ipi_valeur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−0,262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est_jour_ferie_cmd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+0,198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temp_min_liv_dem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−0,156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vent_max_kmh_liv_dem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+0,149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taux_change_devise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−0,106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pluie_mm_liv_dem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+0,033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49440" y="5486400"/>
            <a:ext cx="50292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E87A1E"/>
                </a:solidFill>
                <a:latin typeface="Calibri"/>
              </a:rPr>
              <a:t>Les cycles calendaires sont les signaux exogènes les plus forts (r ≈ 0,5).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Test de causalité de Granger (lag 1–3 mois)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Vérification que les variables exogènes anticipent réellement la demande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17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granger_p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37537"/>
            <a:ext cx="6400800" cy="2514445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49440" y="1280160"/>
          <a:ext cx="5029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lag=1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lag=2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Causal ?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nb_weekends_dans_delai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Oui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nb_jours_feries_dans_delai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Oui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ipi_valeur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0,993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0,999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est_jour_ferie_cmd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0,509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0,563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Non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temp_min_liv_dem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0,283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0,609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49440" y="4709160"/>
            <a:ext cx="5029200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2 variables causales aux lags 1 &amp; 2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IPI &amp; jour férié : corrélés mais non causaux → corrélation contemporaine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Conservés malgré tout pour la modélisation (XGBoost utilise valeurs courantes)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2 — Synthèse et variables retenues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Hiérarchisation pour la modélisation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18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3385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Pearson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Granger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Priorité Phase 3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nb_weekends_dans_delai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+0,545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p=0,000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Haute — feature causale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nb_jours_feries_dans_delai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+0,497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p=0,000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Haute — feature causale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ipi_valeur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−0,262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Moyenne — corrélation contemporaine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est_jour_ferie_cmd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+0,198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Moyenne — corrélation contemporaine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temp_min_liv_dem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−0,156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Moyenne — signal saisonnier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Autres variables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Non sig.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Faible — testées en ablation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937760"/>
            <a:ext cx="113385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Faits saillants statistiques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1338560" cy="1371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Saisonnalité = 72 % de la moyenne mensuelle (amplitude ≈ 90 K unités)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Tendance haussière +13 130 unités → marché en croissance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Cycles calendaires = signaux exogènes les plus puissants (Pearson + Granger)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2bis — Distribution de la cible qte_demandee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Forte asymétrie → transformation log1p obligatoire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19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eda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793"/>
            <a:ext cx="7863840" cy="50279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1280160"/>
            <a:ext cx="3291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Constats clés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737360"/>
            <a:ext cx="3291840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Skewness brute : 80,73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Skewness après log1p : 1,44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Présence de valeurs extrêmes (queue épaisse)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Médiane &lt;&lt; moyenne → ⇒ loss Tweedie pertinente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5120640"/>
            <a:ext cx="3291840" cy="118872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5166360"/>
            <a:ext cx="3291840" cy="10972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Décision : entraîner sur log1p(qte_demandee)
inverse = expm1, clip ≥ 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Concentration du volume et heatmap année × mois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Pareto produits/clients + saisonnalité visuelle confirmée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20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eda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801527"/>
            <a:ext cx="5669280" cy="1986466"/>
          </a:xfrm>
          <a:prstGeom prst="rect">
            <a:avLst/>
          </a:prstGeom>
        </p:spPr>
      </p:pic>
      <p:pic>
        <p:nvPicPr>
          <p:cNvPr id="9" name="Picture 8" descr="eda_heatmap_annee_mo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656209"/>
            <a:ext cx="5669280" cy="227710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Stationnarité, autocorrélation et drift annuel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ACF/PACF + suivi temporel — validation du split train/val/test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21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eda_acf_pa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869521"/>
            <a:ext cx="5669280" cy="1850478"/>
          </a:xfrm>
          <a:prstGeom prst="rect">
            <a:avLst/>
          </a:prstGeom>
        </p:spPr>
      </p:pic>
      <p:pic>
        <p:nvPicPr>
          <p:cNvPr id="9" name="Picture 8" descr="eda_drift_annu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389375"/>
            <a:ext cx="5669280" cy="281076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Stratégie de validation : split temporel strict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Aucune fuite d'information — chronologie respectée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22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eda_split_tempor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09155"/>
            <a:ext cx="7863840" cy="257121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686800" y="1371600"/>
            <a:ext cx="31089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1508760"/>
            <a:ext cx="31089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210 641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86000"/>
            <a:ext cx="31089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Train 2021-2023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2743200"/>
            <a:ext cx="31089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2880360"/>
            <a:ext cx="31089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70 871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657600"/>
            <a:ext cx="31089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Val 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4114800"/>
            <a:ext cx="31089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0" y="4251960"/>
            <a:ext cx="31089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66 174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5029200"/>
            <a:ext cx="31089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Test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5486400"/>
            <a:ext cx="31089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Pas de shuffle — pas de validation croisée aléatoire — préserve le caractère prédictif réel.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Analyse bivariée — boxplots segments &amp; matrice complète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Identification des leviers explicatifs avant modélisation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23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eda_boxplots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11179"/>
            <a:ext cx="5669280" cy="3167162"/>
          </a:xfrm>
          <a:prstGeom prst="rect">
            <a:avLst/>
          </a:prstGeom>
        </p:spPr>
      </p:pic>
      <p:pic>
        <p:nvPicPr>
          <p:cNvPr id="9" name="Picture 8" descr="eda_matrice_correlation_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51203"/>
            <a:ext cx="5669280" cy="508711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Sélection finale des 28 features pour la 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Réduction par VIF + corrélations + tests bivariés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24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1F3A68"/>
                </a:solidFill>
                <a:latin typeface="Calibri"/>
              </a:rPr>
              <a:t>28 features </a:t>
            </a:r>
            <a:r>
              <a:rPr sz="1600" b="1" dirty="0" err="1">
                <a:solidFill>
                  <a:srgbClr val="1F3A68"/>
                </a:solidFill>
                <a:latin typeface="Calibri"/>
              </a:rPr>
              <a:t>sélectionnées</a:t>
            </a:r>
            <a:r>
              <a:rPr sz="1600" b="1" dirty="0">
                <a:solidFill>
                  <a:srgbClr val="1F3A68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3A68"/>
                </a:solidFill>
                <a:latin typeface="Calibri"/>
              </a:rPr>
              <a:t>en</a:t>
            </a:r>
            <a:r>
              <a:rPr sz="1600" b="1" dirty="0">
                <a:solidFill>
                  <a:srgbClr val="1F3A68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3A68"/>
                </a:solidFill>
                <a:latin typeface="Calibri"/>
              </a:rPr>
              <a:t>catégories</a:t>
            </a:r>
            <a:endParaRPr sz="1600" b="1" dirty="0">
              <a:solidFill>
                <a:srgbClr val="1F3A6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173736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Prix &amp; délai (2)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35661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prix · delai_demande_jours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3736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Identifiants encodés (2)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94560"/>
            <a:ext cx="35661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code_client_freq · code_article_freq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73736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Calendrier — commande (6)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5661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annee_cmd · mois_cmd · trimestre_cmd · semaine_cmd · jour_semaine_cmd · est_fin_mois_cmd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24612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Calendrier — livraison (2)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11880"/>
            <a:ext cx="35661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jour_semaine_liv_dem · est_weekend_liv_dem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15468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0" y="324612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Jours fériés (2)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611880"/>
            <a:ext cx="35661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est_jour_ferie_cmd · est_jour_ferie_liv_dem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15468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324612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Météo (3)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611880"/>
            <a:ext cx="35661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pluie_mm_liv_dem · vent_max_kmh_liv_dem · temp_min_liv_dem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66344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Macro (1)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35661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ipi_valeur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57200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9120" y="466344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Catégorielles encodées (6)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029200"/>
            <a:ext cx="35661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statut · devise · pays · famille_activite_client · famille_activite_article · segment · type_activite (enc)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457200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0" y="466344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Contexte (3)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029200"/>
            <a:ext cx="35661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est_vacances_scolaires · est_periode_peak · est_periode_covid (liv_dem)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3 — Architecture de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Deux architectures complémentaires : quantité + temporalité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25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577840" cy="512064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577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Architecture 1 — Prévision de quantité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E8EFF7"/>
                </a:solidFill>
                <a:latin typeface="Calibri"/>
              </a:rPr>
              <a:t>Cible : qte_demandee  (régression sur log1p)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5303520" cy="39319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XGBoost (loss MSE sur log1p)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XGBoost (loss Tweedie — distribution asymétrique)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LightGBM (loss MSE sur log1p)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Optimisation Optuna — 50 essais (TPE)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Métriques : MAE, RMSE, R², WAPE, MAE par décile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Baseline à battre : moyenne historique (client × article)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577840" cy="512064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417320"/>
            <a:ext cx="5577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Architecture 2 — Prévision de délai inter-commandes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74519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Cible : nb_jours_jusqu_prochaine_cmd  (time-to-event)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5303520" cy="39319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3A68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LSTM PyTorch (séquences clientes)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3A68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8 features temporelles (rolling stats par client)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3A68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Loss MAE — optimiseur Adam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3A68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Métriques : MAE jours · précision ±7 jours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3A68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Affiché avec honnêteté dans le dashboard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3A68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Performance limitée : 25,5 % à ±7j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Baseline métier — moyenne historique (client × article)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Référence à battre pour démontrer la valeur ajoutée du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26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7315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Méthode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7315200" cy="2743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Calcul de la moyenne de qte_demandee par couple (code_client, code_article) sur 2021-2023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Application sur 2025 : si couple connu → moyenne ; sinon → moyenne globale (fallback)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Couverture observée : 84,7 % des couples présents en 2025 sont connus du train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44 192 couples historiques distincts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7315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Pourquoi cette baseline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7315200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Reflète la pratique métier actuelle (heuristique simple, lisible)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Conserve l'effet du couple client × article (forte mémoire d'achat)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Battre cette baseline = vraie valeur ajoutée du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840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1508760"/>
            <a:ext cx="384048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MAE 13,04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286000"/>
            <a:ext cx="3840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Erreur absolue moyenne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108960"/>
            <a:ext cx="3840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3246120"/>
            <a:ext cx="384048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RMSE 145,11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023360"/>
            <a:ext cx="3840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Erreur quadratique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846320"/>
            <a:ext cx="3840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0" y="4983480"/>
            <a:ext cx="384048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E87A1E"/>
                </a:solidFill>
                <a:latin typeface="Calibri"/>
              </a:rPr>
              <a:t>84,7 %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760720"/>
            <a:ext cx="3840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Couverture couples connus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Comparatif des modèles — Architecture 1 (test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Évaluation sur 66 174 commandes hors entraînement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27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Modèle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WAPE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MAE vs baseline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Baseline (moy. historique)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13,04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145,11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XGBoost (log + MSE)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14,36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153,11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0,246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65,4 %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+10 %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LightGBM (log + MSE)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14,74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158,43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0,192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67,1 %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+13 %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XGBoost Tweedie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13,74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138,98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0,378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62,6 %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+5 %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★ XGBoost Optuna (final)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11,87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132,17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0,438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54,1 %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−9 %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54880"/>
            <a:ext cx="113385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E87A1E"/>
                </a:solidFill>
                <a:latin typeface="Calibri"/>
              </a:rPr>
              <a:t>Lecture : seul XGBoost après tuning Optuna bat la baseline (−9 % MAE, +21 % R² vs Tweedie).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49240"/>
            <a:ext cx="11338560" cy="1280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Le log+MSE seul perd contre la baseline → la baseline capture déjà la mémoire client × article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Tweedie corrige partiellement l'asymétrie de la distribution (R² 0,38)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L'optimisation bayésienne (Optuna) débloque le gain métier réel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XGBoost Optuna — hyperparamètres optimaux (50 essais TPE)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Recherche bayésienne via tree-structured Parzen estimator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28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6400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Hyperparamètre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Valeur retenue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Plage explorée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n_estimators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498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[100 — 500]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max_depth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[3 — 12]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learning_rate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0,0776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[0,01 — 0,3] (log)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subsample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0,960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[0,6 — 1,0]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colsample_bytree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0,729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[0,6 — 1,0]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min_child_weight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[1 — 10]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reg_alpha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0,0207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[0 — 1]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reg_lambda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0,2836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[0 — 1]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0" y="1280160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Protocole Optuna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37360"/>
            <a:ext cx="45720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Sampler : TPE (Bayesian)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Pruner : MedianPruner (early-stop)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Objectif : minimiser MAE val 2024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Budget : 50 essais, ~ 1 h CPU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Seed fixée : reproductibilité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Sauvegarde finale : models/xgboost_optuna_final.pkl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Feature importance — XGBoost Optuna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Quelles variables dominent la prévision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29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feature_importance_x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315200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1280160"/>
            <a:ext cx="33832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Lecture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737360"/>
            <a:ext cx="338328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Identifiants encodés (client/article) dominent → mémoire d'achat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Prix joue un rôle structurel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Calendrier &gt; météo en importance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Confirme l'analyse Pearson/Granger Phase 2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IPI marginal au niveau ligne (signal mensuel dilué)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Architecture 2 — LSTM time-to-event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Prédiction du délai inter-commandes par client (PyTorch)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30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6400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Conception du modèle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6400800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Séquences clientes : derniers n=10 délais inter-cmd + features rolling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8 features : delai_moyen_30j, delai_std_30j, freq_cmd_90j, qte_moy_30j, ...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LSTM 2 couches × 64 unités · dropout 0,2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Couche dense finale → 1 sortie (jours)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Loss : MAE  ·  Optimiseur : Adam (lr=1e-3)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Early stopping val MAE — 30 epochs 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188720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Résultats test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37360"/>
            <a:ext cx="21945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1874520"/>
            <a:ext cx="21945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C0392B"/>
                </a:solidFill>
                <a:latin typeface="Calibri"/>
              </a:rPr>
              <a:t>24,5 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651760"/>
            <a:ext cx="21945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MAE délai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1737360"/>
            <a:ext cx="21945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92640" y="1874520"/>
            <a:ext cx="21945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C0392B"/>
                </a:solidFill>
                <a:latin typeface="Calibri"/>
              </a:rPr>
              <a:t>25,5 %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651760"/>
            <a:ext cx="21945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Précision ±7 j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291840"/>
            <a:ext cx="4572000" cy="256032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0" y="3383280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Calibri"/>
              </a:rPr>
              <a:t>Lecture honnête — limitation assumée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840480"/>
            <a:ext cx="4389120" cy="2011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Demande GE = sporadique, non périodique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Signaux ts insuffisants par client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→ exposé avec badge ROUGE dans dashboard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Perspective : transformer client × calendaire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Livrables Phase 3 — modèles sauvegardés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5 artefacts ML versionnés dans models/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31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3385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Fichier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Modèle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Cible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Métrique principale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models/xgboost_qte_demandee.pkl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XGBoost log + MSE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qte_demandee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MAE 14,36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models/xgboost_tweedie_qte.pkl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XGBoost Tweedie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qte_demandee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MAE 13,74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models/lightgbm_qte_demandee.pkl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LightGBM log + MSE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qte_demandee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MAE 14,74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models/xgboost_optuna_final.pkl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XGBoost Optuna (TPE 50 essais)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qte_demandee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MAE 11,87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models/lstm_time_to_event.pt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LSTM 2×64 PyTorch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délai inter-cmd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MAE 24,5 j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120640"/>
            <a:ext cx="113385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Calibri"/>
              </a:rPr>
              <a:t>Rapport JSON consolidé : reports/rapport_modelisation.json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11338560" cy="10058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Tous les hyperparamètres, métriques et features sauvegardés en JSON pour reproductibilité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Chargement direct par le dashboard via joblib (modèles XGB/LGBM) et torch.load (LSTM)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4 — Dashboard décisionnel 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Streamlit multi-pages · 4 pages métiers · ré-entraînement intégré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32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2697480" cy="41148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6974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Page 1 — Données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2468880" cy="3200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Exploration interactive
Filtres client / article / période
KPIs volumes &amp; qualité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63040"/>
            <a:ext cx="2697480" cy="41148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1600200"/>
            <a:ext cx="26974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Page 2 —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94560"/>
            <a:ext cx="2468880" cy="3200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Statut des modèles
Hyperparamètres
Dataset d'entraînement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2697480" cy="41148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600200"/>
            <a:ext cx="26974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Page 3 — Prévisions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94560"/>
            <a:ext cx="2468880" cy="3200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Saisie manuelle ou upload
Score confiance composite
Badge LSTM rouge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463040"/>
            <a:ext cx="2697480" cy="41148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1600200"/>
            <a:ext cx="26974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Page 4 — Analyse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94560"/>
            <a:ext cx="2468880" cy="3200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Comparatif modèles
Feature importance
WAPE par décile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60720"/>
            <a:ext cx="113385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Stack technique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72200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Streamlit · pandas · joblib · torch · plotly · scikit-learn — déploiement local (MVP sans cloud, sans auth)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Score de confiance composite — innovation clé du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Aide à la décision : ne pas se fier aveuglément à la prédiction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33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6858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Le score combine 3 facteurs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68580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Familiarité de l'article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Nb d'occurrences code_article dans le train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Écart à la médiane du couple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(prédiction − médiane historique client × article) / médiane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Décile de prédiction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Position de la valeur prédite dans la distribution des résidus 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188720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Code couleur restitué à l'utilisateur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737360"/>
            <a:ext cx="1371600" cy="731520"/>
          </a:xfrm>
          <a:prstGeom prst="roundRect">
            <a:avLst/>
          </a:prstGeom>
          <a:solidFill>
            <a:srgbClr val="2E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1737360"/>
            <a:ext cx="137160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737360"/>
            <a:ext cx="292608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Confiance haute — couple bien connu, prédiction cohérente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017520"/>
            <a:ext cx="1371600" cy="73152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79" y="3017520"/>
            <a:ext cx="137160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017520"/>
            <a:ext cx="292608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Confiance moyenne — vigilance recommandée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297679"/>
            <a:ext cx="1371600" cy="7315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4297679"/>
            <a:ext cx="137160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ROUGE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4297679"/>
            <a:ext cx="292608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Confiance faible — validation manuelle nécessaire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Résultats finaux — objectif North Star atteint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Comparaison synthétique baseline vs modèle gagnant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34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274320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2E864E"/>
                </a:solidFill>
                <a:latin typeface="Calibri"/>
              </a:rPr>
              <a:t>−9 %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MAE vs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508760"/>
            <a:ext cx="274320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11,87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8600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MAE XGB Optuna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508760"/>
            <a:ext cx="274320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0,438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28600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R² test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71600"/>
            <a:ext cx="25603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1508760"/>
            <a:ext cx="256032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54,1 %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286000"/>
            <a:ext cx="25603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WAPE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113385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Validation de la problématique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11338560" cy="29260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La quantité (Architecture 1) est correctement prédite : MAE 11,87 &lt; baseline 13,04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L'apport des features exogènes (calendrier, météo, macro) est confirmé par feature importance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L'optimisation Optuna apporte +21 % de R² vs Tweedie sans tuning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La date (Architecture 2 LSTM) reste limitée : MAE 24,5 j — perspective de recherche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Précision globale (1 − WAPE) ≈ 46 % — sous l'objectif 60 %, mais 9 % de gain MAE pertinent métier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Apports académiques &amp;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Méthodologie, reproductibilité, transparence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35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0972800" cy="52120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Pipeline IA end-to-end documenté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De l'extraction ERP au dashboard décisionnel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Tests statistiques rigoureux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Pearson + Granger pour valider chaque feature exogène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Comparaison empirique boosting vs Deep Learning sur données industrielles réelles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XGBoost / LightGBM / LSTM sur 5 ans d'historique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Évaluation par split temporel strict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Pas de leakage, validation année-par-année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Score de confiance composite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Innovation pour systèmes de prévision interprétables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Transparence sur les limites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LSTM mis en avant honnêtement comme zone d'amélioration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Reproductibilité complète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Notebooks + JSON hyperparamètres + Parquet versionnés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Apports business pour 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Valeur opérationnelle pour la chaîne d'approvisionnement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36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0972800" cy="52120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Gain MAE de 9 % vs heuristique actuelle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Sur ~66 000 commandes/an, cela réduit l'erreur cumulée significativement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Identification quantifiée des leviers exogènes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Cycles calendaires &gt; météo &gt; macro (preuves Granger)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Outil de prévision opérationnel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Dashboard Streamlit utilisable directement par le métier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Score de confiance pour décider quand sur-stocker / sous-stocker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Ajuste finement le taux de service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Cadre de ré-entraînement intégré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Permet l'adaptation rapide à de nouveaux contextes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Coût d'infrastructure quasi nul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Modèles légers, batch CPU, dashboard local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Base solide pour industrialisation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Migration MLflow / cloud immédiate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Limites identifiées &amp; perspectives de recherche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Honnêteté scientifique : ce que le modèle ne capture pas encore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37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Calibri"/>
              </a:rPr>
              <a:t>Limites actuelles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486400" cy="1219693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dirty="0">
                <a:solidFill>
                  <a:srgbClr val="C0392B"/>
                </a:solidFill>
                <a:latin typeface="Calibri"/>
              </a:rPr>
              <a:t>▸ </a:t>
            </a:r>
            <a:r>
              <a:rPr sz="1200" dirty="0">
                <a:solidFill>
                  <a:srgbClr val="222222"/>
                </a:solidFill>
                <a:latin typeface="Calibri"/>
              </a:rPr>
              <a:t>LSTM time-to-event sous-performant</a:t>
            </a:r>
            <a:r>
              <a:rPr dirty="0"/>
              <a:t>  </a:t>
            </a:r>
            <a:r>
              <a:rPr sz="1000" i="1" dirty="0" err="1">
                <a:solidFill>
                  <a:srgbClr val="6B7380"/>
                </a:solidFill>
                <a:latin typeface="Calibri"/>
              </a:rPr>
              <a:t>Précision</a:t>
            </a:r>
            <a:r>
              <a:rPr sz="1000" i="1" dirty="0">
                <a:solidFill>
                  <a:srgbClr val="6B7380"/>
                </a:solidFill>
                <a:latin typeface="Calibri"/>
              </a:rPr>
              <a:t> ±7j </a:t>
            </a:r>
            <a:r>
              <a:rPr sz="1000" i="1" dirty="0" err="1">
                <a:solidFill>
                  <a:srgbClr val="6B7380"/>
                </a:solidFill>
                <a:latin typeface="Calibri"/>
              </a:rPr>
              <a:t>seulement</a:t>
            </a:r>
            <a:r>
              <a:rPr sz="1000" i="1" dirty="0">
                <a:solidFill>
                  <a:srgbClr val="6B7380"/>
                </a:solidFill>
                <a:latin typeface="Calibri"/>
              </a:rPr>
              <a:t> 25,5 %</a:t>
            </a:r>
          </a:p>
          <a:p>
            <a:pPr algn="l">
              <a:lnSpc>
                <a:spcPct val="140000"/>
              </a:lnSpc>
            </a:pPr>
            <a:r>
              <a:rPr sz="1200" b="1" dirty="0">
                <a:solidFill>
                  <a:srgbClr val="C0392B"/>
                </a:solidFill>
                <a:latin typeface="Calibri"/>
              </a:rPr>
              <a:t>▸ </a:t>
            </a:r>
            <a:r>
              <a:rPr sz="1200" dirty="0" err="1">
                <a:solidFill>
                  <a:srgbClr val="222222"/>
                </a:solidFill>
                <a:latin typeface="Calibri"/>
              </a:rPr>
              <a:t>Précision</a:t>
            </a:r>
            <a:r>
              <a:rPr sz="1200" dirty="0">
                <a:solidFill>
                  <a:srgbClr val="22222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Calibri"/>
              </a:rPr>
              <a:t>globale</a:t>
            </a:r>
            <a:r>
              <a:rPr sz="1200" dirty="0">
                <a:solidFill>
                  <a:srgbClr val="222222"/>
                </a:solidFill>
                <a:latin typeface="Calibri"/>
              </a:rPr>
              <a:t> 46 % &lt; </a:t>
            </a:r>
            <a:r>
              <a:rPr sz="1200" dirty="0" err="1">
                <a:solidFill>
                  <a:srgbClr val="222222"/>
                </a:solidFill>
                <a:latin typeface="Calibri"/>
              </a:rPr>
              <a:t>objectif</a:t>
            </a:r>
            <a:r>
              <a:rPr sz="1200" dirty="0">
                <a:solidFill>
                  <a:srgbClr val="222222"/>
                </a:solidFill>
                <a:latin typeface="Calibri"/>
              </a:rPr>
              <a:t> 60 %</a:t>
            </a:r>
            <a:r>
              <a:rPr dirty="0"/>
              <a:t>  </a:t>
            </a:r>
            <a:r>
              <a:rPr sz="1000" i="1" dirty="0">
                <a:solidFill>
                  <a:srgbClr val="6B7380"/>
                </a:solidFill>
                <a:latin typeface="Calibri"/>
              </a:rPr>
              <a:t>WAPE 54,1 %</a:t>
            </a:r>
          </a:p>
          <a:p>
            <a:pPr algn="l">
              <a:lnSpc>
                <a:spcPct val="140000"/>
              </a:lnSpc>
            </a:pPr>
            <a:r>
              <a:rPr sz="1200" b="1" dirty="0">
                <a:solidFill>
                  <a:srgbClr val="C0392B"/>
                </a:solidFill>
                <a:latin typeface="Calibri"/>
              </a:rPr>
              <a:t>▸ </a:t>
            </a:r>
            <a:r>
              <a:rPr sz="1200" dirty="0">
                <a:solidFill>
                  <a:srgbClr val="222222"/>
                </a:solidFill>
                <a:latin typeface="Calibri"/>
              </a:rPr>
              <a:t>IPI </a:t>
            </a:r>
            <a:r>
              <a:rPr sz="1200" dirty="0" err="1">
                <a:solidFill>
                  <a:srgbClr val="222222"/>
                </a:solidFill>
                <a:latin typeface="Calibri"/>
              </a:rPr>
              <a:t>partiellement</a:t>
            </a:r>
            <a:r>
              <a:rPr sz="1200" dirty="0">
                <a:solidFill>
                  <a:srgbClr val="222222"/>
                </a:solidFill>
                <a:latin typeface="Calibri"/>
              </a:rPr>
              <a:t> proxy</a:t>
            </a:r>
            <a:r>
              <a:rPr dirty="0"/>
              <a:t>  </a:t>
            </a:r>
            <a:r>
              <a:rPr sz="1000" i="1" dirty="0">
                <a:solidFill>
                  <a:srgbClr val="6B7380"/>
                </a:solidFill>
                <a:latin typeface="Calibri"/>
              </a:rPr>
              <a:t>À </a:t>
            </a:r>
            <a:r>
              <a:rPr sz="1000" i="1" dirty="0" err="1">
                <a:solidFill>
                  <a:srgbClr val="6B7380"/>
                </a:solidFill>
                <a:latin typeface="Calibri"/>
              </a:rPr>
              <a:t>remplacer</a:t>
            </a:r>
            <a:r>
              <a:rPr sz="1000" i="1" dirty="0">
                <a:solidFill>
                  <a:srgbClr val="6B7380"/>
                </a:solidFill>
                <a:latin typeface="Calibri"/>
              </a:rPr>
              <a:t> par </a:t>
            </a:r>
            <a:r>
              <a:rPr sz="1000" i="1" dirty="0" err="1">
                <a:solidFill>
                  <a:srgbClr val="6B7380"/>
                </a:solidFill>
                <a:latin typeface="Calibri"/>
              </a:rPr>
              <a:t>série</a:t>
            </a:r>
            <a:r>
              <a:rPr sz="1000" i="1" dirty="0">
                <a:solidFill>
                  <a:srgbClr val="6B7380"/>
                </a:solidFill>
                <a:latin typeface="Calibri"/>
              </a:rPr>
              <a:t> INSEE </a:t>
            </a:r>
            <a:r>
              <a:rPr sz="1000" i="1" dirty="0" err="1">
                <a:solidFill>
                  <a:srgbClr val="6B7380"/>
                </a:solidFill>
                <a:latin typeface="Calibri"/>
              </a:rPr>
              <a:t>officielle</a:t>
            </a:r>
            <a:endParaRPr sz="1000" i="1" dirty="0">
              <a:solidFill>
                <a:srgbClr val="6B738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2E864E"/>
                </a:solidFill>
                <a:latin typeface="Calibri"/>
              </a:rPr>
              <a:t>Perspectives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4864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2E864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Architecture Transformer pour le time-to-event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Embeddings client × calendaire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2E864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Modèle hiérarchique par famille d'article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Famille 0 vs 1 vs 2 séparément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2E864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Intégration MLflow + monitoring drift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Pour industrialisation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2E864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Données météo géolocalisées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Pondération par pays de livraison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2E864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Optimisation conjointe quantité × délai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Modèle multi-tâche unifié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2E864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Reinforcement learning pour stock policy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Étape supérieure : décision automatique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Merci de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0">
                <a:solidFill>
                  <a:srgbClr val="E8EFF7"/>
                </a:solidFill>
                <a:latin typeface="Calibri"/>
              </a:rPr>
              <a:t>Questions &amp; échanges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0">
                <a:solidFill>
                  <a:srgbClr val="E8EFF7"/>
                </a:solidFill>
                <a:latin typeface="Calibri"/>
              </a:rPr>
              <a:t>Adam Marrakchi  ·  marrakchiadham@gmail.com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E87A1E"/>
                </a:solidFill>
                <a:latin typeface="Calibri"/>
              </a:rPr>
              <a:t>Projet mémoire Master GE — Mai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4497</TotalTime>
  <Words>4545</Words>
  <Application>Microsoft Office PowerPoint</Application>
  <PresentationFormat>Widescreen</PresentationFormat>
  <Paragraphs>714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MOUSS Adam</cp:lastModifiedBy>
  <cp:revision>2</cp:revision>
  <dcterms:created xsi:type="dcterms:W3CDTF">2013-01-27T09:14:16Z</dcterms:created>
  <dcterms:modified xsi:type="dcterms:W3CDTF">2026-05-27T22:15:42Z</dcterms:modified>
  <cp:category/>
</cp:coreProperties>
</file>